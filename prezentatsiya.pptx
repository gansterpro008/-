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86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90E13F2-4F25-4127-8329-D366F0AEFE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76518E5-254A-4DFA-BBC9-B4A2D58F13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4107D4E-06C7-4563-855E-335652323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20484-2BB6-4488-B9B5-A3980912C238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5D42B9D-1F01-4166-9817-3D52DBF844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2B228E8-351B-4EC7-A74A-DAC8E2AC7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B51F4-4239-4925-93BF-100B2AD87C7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37585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E62CFA-D49D-4934-98C3-9116998C5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438E1EE-EE1D-463E-B1D8-66ACF5C4E1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5E30C99-8483-4B8F-937B-6545839FE6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20484-2BB6-4488-B9B5-A3980912C238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7B13B9B-8173-420E-AD44-CD5E35308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9DC6B1E-FFEF-45D1-A010-D255DB5AB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B51F4-4239-4925-93BF-100B2AD87C7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51732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E765ED-A30B-4EAB-8FD6-BF93090E8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5FF54E7-DCE4-4364-B3B6-14BC3AD4CE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052DEE3-F493-457A-9A0E-A19C0CCED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20484-2BB6-4488-B9B5-A3980912C238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5F6841A-2DC7-42E8-B54D-239216623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0560646-693C-4B31-ACF6-50263A211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B51F4-4239-4925-93BF-100B2AD87C7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41753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2A4AD8-D0B9-4C84-A61C-06FAD4F660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BEBE878-58A2-424C-ABEE-9251637C48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0CABABE-7C27-4D82-B355-F9E3B8AFE8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71D376D-DFF2-4AF9-8B78-561ED9FB8B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20484-2BB6-4488-B9B5-A3980912C238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EA7FA06-B3FC-408F-8E2B-1DDA85FE1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F322BEB-C721-4776-84AA-879C66288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B51F4-4239-4925-93BF-100B2AD87C7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02154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3535F8-5FDC-42A3-99B7-BF5668E0E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D6A2909-5453-43C4-B662-45963576D4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AAC0FA0-FA41-49B7-837C-6032B1D12F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7E2E8D5F-7C4C-46C5-9A53-05CBCA4909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7D0501BF-7EBE-453E-BF66-8945F6CF41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E0E06AAF-4E7D-4313-BD71-BB0645A892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20484-2BB6-4488-B9B5-A3980912C238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F09707E4-1DC5-4BB4-BC72-23785CEF5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E7E0DEF3-DD6E-4A48-A585-1B86B5AEB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B51F4-4239-4925-93BF-100B2AD87C7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45496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515D1A-90E7-4C81-93A8-445FAF340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CF24AC2-11B5-4E0A-9CD5-51711E7C8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20484-2BB6-4488-B9B5-A3980912C238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1A5A0915-66B2-4B56-AB8C-072148837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119F279-2443-4CB7-A012-07F1E0E0E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B51F4-4239-4925-93BF-100B2AD87C7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25119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5C6E5418-A2EC-4803-A141-672A2C1369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20484-2BB6-4488-B9B5-A3980912C238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B77A9BCA-3D0B-44FE-B49D-AFA2905E9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EB19B79-F694-480B-82B8-4E5F99E56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B51F4-4239-4925-93BF-100B2AD87C7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49748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731CCC-97A4-45C4-BFE2-4BC8479B11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AD3F1AD-6A37-4F90-A3D1-A707AE1315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1AACCC7-926A-4E1E-AB21-0022814DA2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001C879-A20E-4EBC-9C79-39EB0D28F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20484-2BB6-4488-B9B5-A3980912C238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45F66D0-B536-4A51-81AA-9B8D1230A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0A76BC5-2543-44A0-9637-BB6638223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B51F4-4239-4925-93BF-100B2AD87C7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29230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5F7C34-CF24-44E0-B4F8-D3AD037291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DCA6A94D-7A5F-469F-AD47-E5488066F6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FAB2153-1FEB-4D9A-B298-EFECCFC2CB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E70FA92-C374-48DD-9C3A-3CEBF06B8D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20484-2BB6-4488-B9B5-A3980912C238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4C7995E-FE34-4236-B303-833EF36810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A223A24-D3AE-4646-B84D-C991043FD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B51F4-4239-4925-93BF-100B2AD87C7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36919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E8DC7B-42E1-4573-AAED-CFD4A8977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EF747C4-D258-48D7-85A9-617F465DEE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659F053-B2C6-4CC7-BB5A-F4D2882EF7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20484-2BB6-4488-B9B5-A3980912C238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6238CDE-FEC9-463D-ABF9-AEDD51E12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8DC95D4-1678-4B02-AD56-ACAFADB7F2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B51F4-4239-4925-93BF-100B2AD87C7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39594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CCFB9067-5F9D-4F9F-8C70-CE71367206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2AF7EE7-78E3-4515-B504-4FCFF72F37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C3965FF-7E11-4B8F-A5EB-14346CA1C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20484-2BB6-4488-B9B5-A3980912C238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09258ED-285B-4495-9284-ECB4513D6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C1FFF0A-A4AF-46F1-9ACA-FEFF8B526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B51F4-4239-4925-93BF-100B2AD87C7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4351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066B70-D756-4A08-9B13-09BB75282D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D6DCFFD-0AD2-4025-BA6A-72FDE75648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5DECC35-9A22-454D-B845-4B15272D7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20484-2BB6-4488-B9B5-A3980912C238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6EAB873-EBDF-40FC-B70B-D659EDDD0A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77B2A1D-E2FD-4F23-876C-6C39C43EB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B51F4-4239-4925-93BF-100B2AD87C7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88216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E8296C-790F-4B04-8A6F-3234E2B47E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31AB189-D7E7-4062-9CE3-718F5FC8F5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F12F13D-5291-4BD7-A88E-EBD00F0AA9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520484-2BB6-4488-B9B5-A3980912C238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6C4C6D7-5CDE-4511-B962-B075EFBBA2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722F14F-F219-4B3E-A697-A0587775BB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4B51F4-4239-4925-93BF-100B2AD87C7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35467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975008-220F-4412-A8DE-77E2E0F8990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68EAA48-69BE-4355-A901-BBA3503905C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48B2E42-2E17-42BA-9DFE-2CE56514727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9233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7C848E-BC2B-4BF4-98AA-BE052D34D9D1}"/>
              </a:ext>
            </a:extLst>
          </p:cNvPr>
          <p:cNvSpPr txBox="1"/>
          <p:nvPr/>
        </p:nvSpPr>
        <p:spPr>
          <a:xfrm>
            <a:off x="762000" y="2032000"/>
            <a:ext cx="10668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 sz="3200" b="1">
                <a:solidFill>
                  <a:srgbClr val="FFFFFF"/>
                </a:solidFill>
              </a:rPr>
              <a:t>Мобильное приложение для учёта товаров на складе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7DDF5944-FDD7-4C4D-A13F-9BB7337E058A}"/>
              </a:ext>
            </a:extLst>
          </p:cNvPr>
          <p:cNvSpPr/>
          <p:nvPr/>
        </p:nvSpPr>
        <p:spPr>
          <a:xfrm>
            <a:off x="762000" y="3175000"/>
            <a:ext cx="2540000" cy="38100"/>
          </a:xfrm>
          <a:prstGeom prst="rect">
            <a:avLst/>
          </a:prstGeom>
          <a:solidFill>
            <a:srgbClr val="3F82D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466EA3-4077-450F-8377-FDF4D98B9EDA}"/>
              </a:ext>
            </a:extLst>
          </p:cNvPr>
          <p:cNvSpPr txBox="1"/>
          <p:nvPr/>
        </p:nvSpPr>
        <p:spPr>
          <a:xfrm>
            <a:off x="762000" y="3429000"/>
            <a:ext cx="10668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 sz="2000">
                <a:solidFill>
                  <a:srgbClr val="C8D2E1"/>
                </a:solidFill>
              </a:rPr>
              <a:t>Учебная практика • 2026 год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8A34B1E-827A-4F1E-ADB5-533C9DACE7DA}"/>
              </a:ext>
            </a:extLst>
          </p:cNvPr>
          <p:cNvSpPr txBox="1"/>
          <p:nvPr/>
        </p:nvSpPr>
        <p:spPr>
          <a:xfrm>
            <a:off x="762000" y="3937000"/>
            <a:ext cx="10668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600">
                <a:solidFill>
                  <a:srgbClr val="C8D2E1"/>
                </a:solidFill>
              </a:rPr>
              <a:t>Flutter • SQLite • Android</a:t>
            </a:r>
            <a:endParaRPr lang="ru-RU" sz="1600">
              <a:solidFill>
                <a:srgbClr val="C8D2E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9566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558C7F-E4B6-40CA-A8E8-96A5541B7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B1746B2-BF6B-4F71-A311-B2D34582EA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CF19B692-DFDB-43E4-9F65-57C9442173E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9233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1C0BA7-2953-465B-BCCA-2FB8BE7C344F}"/>
              </a:ext>
            </a:extLst>
          </p:cNvPr>
          <p:cNvSpPr txBox="1"/>
          <p:nvPr/>
        </p:nvSpPr>
        <p:spPr>
          <a:xfrm>
            <a:off x="508000" y="317500"/>
            <a:ext cx="11176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 sz="2800" b="1">
                <a:solidFill>
                  <a:srgbClr val="FFFFFF"/>
                </a:solidFill>
              </a:rPr>
              <a:t>Цель и задачи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252EB7D3-2E7B-419E-944D-8DC38AA7248A}"/>
              </a:ext>
            </a:extLst>
          </p:cNvPr>
          <p:cNvSpPr/>
          <p:nvPr/>
        </p:nvSpPr>
        <p:spPr>
          <a:xfrm>
            <a:off x="508000" y="1016000"/>
            <a:ext cx="11176000" cy="50800"/>
          </a:xfrm>
          <a:prstGeom prst="rect">
            <a:avLst/>
          </a:prstGeom>
          <a:solidFill>
            <a:srgbClr val="3F82D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A2E0CE-F8CF-4FCB-9A70-6A04817EB584}"/>
              </a:ext>
            </a:extLst>
          </p:cNvPr>
          <p:cNvSpPr txBox="1"/>
          <p:nvPr/>
        </p:nvSpPr>
        <p:spPr>
          <a:xfrm>
            <a:off x="635000" y="1270000"/>
            <a:ext cx="10922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 sz="1600" b="1">
                <a:solidFill>
                  <a:srgbClr val="FFFFFF"/>
                </a:solidFill>
              </a:rPr>
              <a:t>Цель: Разработать мобильное приложение для учёта товаров на складе с локальным хранением данных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7F11B6-BC4F-4A06-8E30-AD5EF42CEB73}"/>
              </a:ext>
            </a:extLst>
          </p:cNvPr>
          <p:cNvSpPr txBox="1"/>
          <p:nvPr/>
        </p:nvSpPr>
        <p:spPr>
          <a:xfrm>
            <a:off x="635000" y="1968500"/>
            <a:ext cx="10922000" cy="3539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 sz="1700" b="1">
                <a:solidFill>
                  <a:srgbClr val="FFFFFF"/>
                </a:solidFill>
              </a:rPr>
              <a:t>Задачи: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CAF717F-A5DB-4183-8C8E-5DBC29CD6B5E}"/>
              </a:ext>
            </a:extLst>
          </p:cNvPr>
          <p:cNvSpPr txBox="1"/>
          <p:nvPr/>
        </p:nvSpPr>
        <p:spPr>
          <a:xfrm>
            <a:off x="952500" y="2413000"/>
            <a:ext cx="107950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 sz="1500">
                <a:solidFill>
                  <a:srgbClr val="C8D2E1"/>
                </a:solidFill>
              </a:rPr>
              <a:t>Создание интуитивного интерфейса для управления товарами</a:t>
            </a:r>
          </a:p>
        </p:txBody>
      </p:sp>
      <p:sp>
        <p:nvSpPr>
          <p:cNvPr id="10" name="Овал 9">
            <a:extLst>
              <a:ext uri="{FF2B5EF4-FFF2-40B4-BE49-F238E27FC236}">
                <a16:creationId xmlns:a16="http://schemas.microsoft.com/office/drawing/2014/main" id="{632BD8E6-2A18-4C96-8E62-56989EF6E42F}"/>
              </a:ext>
            </a:extLst>
          </p:cNvPr>
          <p:cNvSpPr/>
          <p:nvPr/>
        </p:nvSpPr>
        <p:spPr>
          <a:xfrm>
            <a:off x="762000" y="2501900"/>
            <a:ext cx="101600" cy="101600"/>
          </a:xfrm>
          <a:prstGeom prst="ellipse">
            <a:avLst/>
          </a:prstGeom>
          <a:solidFill>
            <a:srgbClr val="3F82D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DB65DB4-E36D-4B2D-A2AC-CFBBCC86E19E}"/>
              </a:ext>
            </a:extLst>
          </p:cNvPr>
          <p:cNvSpPr txBox="1"/>
          <p:nvPr/>
        </p:nvSpPr>
        <p:spPr>
          <a:xfrm>
            <a:off x="952500" y="2819400"/>
            <a:ext cx="107950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 sz="1500">
                <a:solidFill>
                  <a:srgbClr val="C8D2E1"/>
                </a:solidFill>
              </a:rPr>
              <a:t>Реализация операций прихода и расхода товаров</a:t>
            </a:r>
          </a:p>
        </p:txBody>
      </p:sp>
      <p:sp>
        <p:nvSpPr>
          <p:cNvPr id="12" name="Овал 11">
            <a:extLst>
              <a:ext uri="{FF2B5EF4-FFF2-40B4-BE49-F238E27FC236}">
                <a16:creationId xmlns:a16="http://schemas.microsoft.com/office/drawing/2014/main" id="{41A53C7C-16DD-4235-AA5E-788B4E2C7019}"/>
              </a:ext>
            </a:extLst>
          </p:cNvPr>
          <p:cNvSpPr/>
          <p:nvPr/>
        </p:nvSpPr>
        <p:spPr>
          <a:xfrm>
            <a:off x="762000" y="2908300"/>
            <a:ext cx="101600" cy="101600"/>
          </a:xfrm>
          <a:prstGeom prst="ellipse">
            <a:avLst/>
          </a:prstGeom>
          <a:solidFill>
            <a:srgbClr val="3F82D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8C85C8A-2973-4017-9997-3784B957E65F}"/>
              </a:ext>
            </a:extLst>
          </p:cNvPr>
          <p:cNvSpPr txBox="1"/>
          <p:nvPr/>
        </p:nvSpPr>
        <p:spPr>
          <a:xfrm>
            <a:off x="952500" y="3225800"/>
            <a:ext cx="107950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 sz="1500">
                <a:solidFill>
                  <a:srgbClr val="C8D2E1"/>
                </a:solidFill>
              </a:rPr>
              <a:t>Ведение истории движений по каждому товару</a:t>
            </a:r>
          </a:p>
        </p:txBody>
      </p:sp>
      <p:sp>
        <p:nvSpPr>
          <p:cNvPr id="14" name="Овал 13">
            <a:extLst>
              <a:ext uri="{FF2B5EF4-FFF2-40B4-BE49-F238E27FC236}">
                <a16:creationId xmlns:a16="http://schemas.microsoft.com/office/drawing/2014/main" id="{92559600-ACDC-4FC4-8686-8813EE23D238}"/>
              </a:ext>
            </a:extLst>
          </p:cNvPr>
          <p:cNvSpPr/>
          <p:nvPr/>
        </p:nvSpPr>
        <p:spPr>
          <a:xfrm>
            <a:off x="762000" y="3314700"/>
            <a:ext cx="101600" cy="101600"/>
          </a:xfrm>
          <a:prstGeom prst="ellipse">
            <a:avLst/>
          </a:prstGeom>
          <a:solidFill>
            <a:srgbClr val="3F82D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DAB3D99-4ACB-47C8-A5EE-5D4C154F1DEC}"/>
              </a:ext>
            </a:extLst>
          </p:cNvPr>
          <p:cNvSpPr txBox="1"/>
          <p:nvPr/>
        </p:nvSpPr>
        <p:spPr>
          <a:xfrm>
            <a:off x="952500" y="3632200"/>
            <a:ext cx="107950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 sz="1500">
                <a:solidFill>
                  <a:srgbClr val="C8D2E1"/>
                </a:solidFill>
              </a:rPr>
              <a:t>Статистика по категориям и остаткам на складе</a:t>
            </a:r>
          </a:p>
        </p:txBody>
      </p:sp>
      <p:sp>
        <p:nvSpPr>
          <p:cNvPr id="16" name="Овал 15">
            <a:extLst>
              <a:ext uri="{FF2B5EF4-FFF2-40B4-BE49-F238E27FC236}">
                <a16:creationId xmlns:a16="http://schemas.microsoft.com/office/drawing/2014/main" id="{CD668825-C9E5-4343-8629-5C05D13D3E7C}"/>
              </a:ext>
            </a:extLst>
          </p:cNvPr>
          <p:cNvSpPr/>
          <p:nvPr/>
        </p:nvSpPr>
        <p:spPr>
          <a:xfrm>
            <a:off x="762000" y="3721100"/>
            <a:ext cx="101600" cy="101600"/>
          </a:xfrm>
          <a:prstGeom prst="ellipse">
            <a:avLst/>
          </a:prstGeom>
          <a:solidFill>
            <a:srgbClr val="3F82D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01801AA-FE76-4773-A46D-5D82B5524B63}"/>
              </a:ext>
            </a:extLst>
          </p:cNvPr>
          <p:cNvSpPr txBox="1"/>
          <p:nvPr/>
        </p:nvSpPr>
        <p:spPr>
          <a:xfrm>
            <a:off x="952500" y="4038600"/>
            <a:ext cx="107950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 sz="1500">
                <a:solidFill>
                  <a:srgbClr val="C8D2E1"/>
                </a:solidFill>
              </a:rPr>
              <a:t>Работа с контрагентами (поставщики и покупатели)</a:t>
            </a:r>
          </a:p>
        </p:txBody>
      </p:sp>
      <p:sp>
        <p:nvSpPr>
          <p:cNvPr id="18" name="Овал 17">
            <a:extLst>
              <a:ext uri="{FF2B5EF4-FFF2-40B4-BE49-F238E27FC236}">
                <a16:creationId xmlns:a16="http://schemas.microsoft.com/office/drawing/2014/main" id="{BAF03B11-EC26-4AA1-B263-01BFFAE8AC0F}"/>
              </a:ext>
            </a:extLst>
          </p:cNvPr>
          <p:cNvSpPr/>
          <p:nvPr/>
        </p:nvSpPr>
        <p:spPr>
          <a:xfrm>
            <a:off x="762000" y="4127500"/>
            <a:ext cx="101600" cy="101600"/>
          </a:xfrm>
          <a:prstGeom prst="ellipse">
            <a:avLst/>
          </a:prstGeom>
          <a:solidFill>
            <a:srgbClr val="3F82D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98DA448-E425-40C9-A378-F6D5F2D58A52}"/>
              </a:ext>
            </a:extLst>
          </p:cNvPr>
          <p:cNvSpPr txBox="1"/>
          <p:nvPr/>
        </p:nvSpPr>
        <p:spPr>
          <a:xfrm>
            <a:off x="952500" y="4445000"/>
            <a:ext cx="107950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 sz="1500">
                <a:solidFill>
                  <a:srgbClr val="C8D2E1"/>
                </a:solidFill>
              </a:rPr>
              <a:t>Автономная работа без подключения к интернету</a:t>
            </a:r>
          </a:p>
        </p:txBody>
      </p:sp>
      <p:sp>
        <p:nvSpPr>
          <p:cNvPr id="20" name="Овал 19">
            <a:extLst>
              <a:ext uri="{FF2B5EF4-FFF2-40B4-BE49-F238E27FC236}">
                <a16:creationId xmlns:a16="http://schemas.microsoft.com/office/drawing/2014/main" id="{F11E066E-5E72-4D6B-981B-5AAEB85797EC}"/>
              </a:ext>
            </a:extLst>
          </p:cNvPr>
          <p:cNvSpPr/>
          <p:nvPr/>
        </p:nvSpPr>
        <p:spPr>
          <a:xfrm>
            <a:off x="762000" y="4533900"/>
            <a:ext cx="101600" cy="101600"/>
          </a:xfrm>
          <a:prstGeom prst="ellipse">
            <a:avLst/>
          </a:prstGeom>
          <a:solidFill>
            <a:srgbClr val="3F82D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05526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D4F71C-87BD-4527-B53D-238689154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C5C1241-35BD-4B97-BE6E-84DAB239DF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80B5FB1-E415-48CB-B51D-799B3E610C4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9233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656142-C723-4AA2-B362-D456EECEAB34}"/>
              </a:ext>
            </a:extLst>
          </p:cNvPr>
          <p:cNvSpPr txBox="1"/>
          <p:nvPr/>
        </p:nvSpPr>
        <p:spPr>
          <a:xfrm>
            <a:off x="508000" y="317500"/>
            <a:ext cx="11176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 sz="2800" b="1">
                <a:solidFill>
                  <a:srgbClr val="FFFFFF"/>
                </a:solidFill>
              </a:rPr>
              <a:t>Актуальность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D08F3BF8-CCD8-4398-B92D-8B67F8C409CC}"/>
              </a:ext>
            </a:extLst>
          </p:cNvPr>
          <p:cNvSpPr/>
          <p:nvPr/>
        </p:nvSpPr>
        <p:spPr>
          <a:xfrm>
            <a:off x="508000" y="1016000"/>
            <a:ext cx="11176000" cy="50800"/>
          </a:xfrm>
          <a:prstGeom prst="rect">
            <a:avLst/>
          </a:prstGeom>
          <a:solidFill>
            <a:srgbClr val="3F82D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0E8929-5247-495C-8F92-62D33785895D}"/>
              </a:ext>
            </a:extLst>
          </p:cNvPr>
          <p:cNvSpPr txBox="1"/>
          <p:nvPr/>
        </p:nvSpPr>
        <p:spPr>
          <a:xfrm>
            <a:off x="635000" y="1270000"/>
            <a:ext cx="10922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 sz="1500">
                <a:solidFill>
                  <a:srgbClr val="C8D2E1"/>
                </a:solidFill>
              </a:rPr>
              <a:t>Малый и средний бизнес часто не имеет доступа к дорогим облачным ERP-системам. Большинство существующих решений требуют постоянного интернет-подключения и ежемесячной оплаты.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6815C5A-0C8D-447A-A409-2BD8DF05EB23}"/>
              </a:ext>
            </a:extLst>
          </p:cNvPr>
          <p:cNvSpPr txBox="1"/>
          <p:nvPr/>
        </p:nvSpPr>
        <p:spPr>
          <a:xfrm>
            <a:off x="952500" y="2095500"/>
            <a:ext cx="107950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 sz="1500">
                <a:solidFill>
                  <a:srgbClr val="C8D2E1"/>
                </a:solidFill>
              </a:rPr>
              <a:t>Полностью бесплатное решение с открытым исходным кодом</a:t>
            </a:r>
          </a:p>
        </p:txBody>
      </p:sp>
      <p:sp>
        <p:nvSpPr>
          <p:cNvPr id="9" name="Овал 8">
            <a:extLst>
              <a:ext uri="{FF2B5EF4-FFF2-40B4-BE49-F238E27FC236}">
                <a16:creationId xmlns:a16="http://schemas.microsoft.com/office/drawing/2014/main" id="{0C0DFBDC-70B5-4486-B180-DA1DF452DC8A}"/>
              </a:ext>
            </a:extLst>
          </p:cNvPr>
          <p:cNvSpPr/>
          <p:nvPr/>
        </p:nvSpPr>
        <p:spPr>
          <a:xfrm>
            <a:off x="762000" y="2184400"/>
            <a:ext cx="101600" cy="101600"/>
          </a:xfrm>
          <a:prstGeom prst="ellipse">
            <a:avLst/>
          </a:prstGeom>
          <a:solidFill>
            <a:srgbClr val="3F82D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1265C71-BD6D-4565-9E9B-9FA475165DF5}"/>
              </a:ext>
            </a:extLst>
          </p:cNvPr>
          <p:cNvSpPr txBox="1"/>
          <p:nvPr/>
        </p:nvSpPr>
        <p:spPr>
          <a:xfrm>
            <a:off x="952500" y="2476500"/>
            <a:ext cx="107950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 sz="1500">
                <a:solidFill>
                  <a:srgbClr val="C8D2E1"/>
                </a:solidFill>
              </a:rPr>
              <a:t>Работает без интернета — все данные на устройстве</a:t>
            </a:r>
          </a:p>
        </p:txBody>
      </p:sp>
      <p:sp>
        <p:nvSpPr>
          <p:cNvPr id="11" name="Овал 10">
            <a:extLst>
              <a:ext uri="{FF2B5EF4-FFF2-40B4-BE49-F238E27FC236}">
                <a16:creationId xmlns:a16="http://schemas.microsoft.com/office/drawing/2014/main" id="{79F15ACB-B054-474D-A155-376EBA25DB12}"/>
              </a:ext>
            </a:extLst>
          </p:cNvPr>
          <p:cNvSpPr/>
          <p:nvPr/>
        </p:nvSpPr>
        <p:spPr>
          <a:xfrm>
            <a:off x="762000" y="2565400"/>
            <a:ext cx="101600" cy="101600"/>
          </a:xfrm>
          <a:prstGeom prst="ellipse">
            <a:avLst/>
          </a:prstGeom>
          <a:solidFill>
            <a:srgbClr val="3F82D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3DF8668-4ED5-4887-9C69-E664DD572C8E}"/>
              </a:ext>
            </a:extLst>
          </p:cNvPr>
          <p:cNvSpPr txBox="1"/>
          <p:nvPr/>
        </p:nvSpPr>
        <p:spPr>
          <a:xfrm>
            <a:off x="952500" y="2857500"/>
            <a:ext cx="107950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 sz="1500">
                <a:solidFill>
                  <a:srgbClr val="C8D2E1"/>
                </a:solidFill>
              </a:rPr>
              <a:t>Простой и понятный интерфейс на русском языке</a:t>
            </a:r>
          </a:p>
        </p:txBody>
      </p:sp>
      <p:sp>
        <p:nvSpPr>
          <p:cNvPr id="13" name="Овал 12">
            <a:extLst>
              <a:ext uri="{FF2B5EF4-FFF2-40B4-BE49-F238E27FC236}">
                <a16:creationId xmlns:a16="http://schemas.microsoft.com/office/drawing/2014/main" id="{23D54C3C-786A-404B-9A95-D3108FF60214}"/>
              </a:ext>
            </a:extLst>
          </p:cNvPr>
          <p:cNvSpPr/>
          <p:nvPr/>
        </p:nvSpPr>
        <p:spPr>
          <a:xfrm>
            <a:off x="762000" y="2946400"/>
            <a:ext cx="101600" cy="101600"/>
          </a:xfrm>
          <a:prstGeom prst="ellipse">
            <a:avLst/>
          </a:prstGeom>
          <a:solidFill>
            <a:srgbClr val="3F82D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84330FF-7974-49FF-B83C-CDB7AFFA8EBD}"/>
              </a:ext>
            </a:extLst>
          </p:cNvPr>
          <p:cNvSpPr txBox="1"/>
          <p:nvPr/>
        </p:nvSpPr>
        <p:spPr>
          <a:xfrm>
            <a:off x="952500" y="3238500"/>
            <a:ext cx="107950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 sz="1500">
                <a:solidFill>
                  <a:srgbClr val="C8D2E1"/>
                </a:solidFill>
              </a:rPr>
              <a:t>Не требует покупки серверного оборудования</a:t>
            </a:r>
          </a:p>
        </p:txBody>
      </p:sp>
      <p:sp>
        <p:nvSpPr>
          <p:cNvPr id="15" name="Овал 14">
            <a:extLst>
              <a:ext uri="{FF2B5EF4-FFF2-40B4-BE49-F238E27FC236}">
                <a16:creationId xmlns:a16="http://schemas.microsoft.com/office/drawing/2014/main" id="{AB5ECEDB-47B8-4AB2-ABDF-92F268CB6B38}"/>
              </a:ext>
            </a:extLst>
          </p:cNvPr>
          <p:cNvSpPr/>
          <p:nvPr/>
        </p:nvSpPr>
        <p:spPr>
          <a:xfrm>
            <a:off x="762000" y="3327400"/>
            <a:ext cx="101600" cy="101600"/>
          </a:xfrm>
          <a:prstGeom prst="ellipse">
            <a:avLst/>
          </a:prstGeom>
          <a:solidFill>
            <a:srgbClr val="3F82D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BCDCAF9-C8FB-4BB5-83B9-25E41094A84E}"/>
              </a:ext>
            </a:extLst>
          </p:cNvPr>
          <p:cNvSpPr txBox="1"/>
          <p:nvPr/>
        </p:nvSpPr>
        <p:spPr>
          <a:xfrm>
            <a:off x="952500" y="3619500"/>
            <a:ext cx="107950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 sz="1500">
                <a:solidFill>
                  <a:srgbClr val="C8D2E1"/>
                </a:solidFill>
              </a:rPr>
              <a:t>Подходит для ИП, небольших магазинов и складов</a:t>
            </a:r>
          </a:p>
        </p:txBody>
      </p:sp>
      <p:sp>
        <p:nvSpPr>
          <p:cNvPr id="17" name="Овал 16">
            <a:extLst>
              <a:ext uri="{FF2B5EF4-FFF2-40B4-BE49-F238E27FC236}">
                <a16:creationId xmlns:a16="http://schemas.microsoft.com/office/drawing/2014/main" id="{7F3E6344-AB16-4E76-9550-AC60E81C0B9A}"/>
              </a:ext>
            </a:extLst>
          </p:cNvPr>
          <p:cNvSpPr/>
          <p:nvPr/>
        </p:nvSpPr>
        <p:spPr>
          <a:xfrm>
            <a:off x="762000" y="3708400"/>
            <a:ext cx="101600" cy="101600"/>
          </a:xfrm>
          <a:prstGeom prst="ellipse">
            <a:avLst/>
          </a:prstGeom>
          <a:solidFill>
            <a:srgbClr val="3F82D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E1389DD-9CA5-45F5-BBDD-9D8D4428F5F6}"/>
              </a:ext>
            </a:extLst>
          </p:cNvPr>
          <p:cNvSpPr txBox="1"/>
          <p:nvPr/>
        </p:nvSpPr>
        <p:spPr>
          <a:xfrm>
            <a:off x="952500" y="4000500"/>
            <a:ext cx="107950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 sz="1500">
                <a:solidFill>
                  <a:srgbClr val="C8D2E1"/>
                </a:solidFill>
              </a:rPr>
              <a:t>Мгновенный запуск — установил и пользуешься</a:t>
            </a:r>
          </a:p>
        </p:txBody>
      </p:sp>
      <p:sp>
        <p:nvSpPr>
          <p:cNvPr id="19" name="Овал 18">
            <a:extLst>
              <a:ext uri="{FF2B5EF4-FFF2-40B4-BE49-F238E27FC236}">
                <a16:creationId xmlns:a16="http://schemas.microsoft.com/office/drawing/2014/main" id="{94741791-021A-4415-B164-721BDFFCC7CE}"/>
              </a:ext>
            </a:extLst>
          </p:cNvPr>
          <p:cNvSpPr/>
          <p:nvPr/>
        </p:nvSpPr>
        <p:spPr>
          <a:xfrm>
            <a:off x="762000" y="4089400"/>
            <a:ext cx="101600" cy="101600"/>
          </a:xfrm>
          <a:prstGeom prst="ellipse">
            <a:avLst/>
          </a:prstGeom>
          <a:solidFill>
            <a:srgbClr val="3F82D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22809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2F763D-2EA6-444F-951D-6DF8618AD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DE8E43A-85E8-4FCA-ABCC-9BE70E8B0A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BF812DAD-AE93-40F0-AE8E-69FC2C30BF3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9233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E5118B-807F-4D9C-A82C-2326CA1277CF}"/>
              </a:ext>
            </a:extLst>
          </p:cNvPr>
          <p:cNvSpPr txBox="1"/>
          <p:nvPr/>
        </p:nvSpPr>
        <p:spPr>
          <a:xfrm>
            <a:off x="508000" y="317500"/>
            <a:ext cx="11176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 sz="2800" b="1">
                <a:solidFill>
                  <a:srgbClr val="FFFFFF"/>
                </a:solidFill>
              </a:rPr>
              <a:t>Выбор базы данных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1527687D-DCC5-4D8E-8BDB-BDE8F6C3C3A3}"/>
              </a:ext>
            </a:extLst>
          </p:cNvPr>
          <p:cNvSpPr/>
          <p:nvPr/>
        </p:nvSpPr>
        <p:spPr>
          <a:xfrm>
            <a:off x="508000" y="1016000"/>
            <a:ext cx="11176000" cy="50800"/>
          </a:xfrm>
          <a:prstGeom prst="rect">
            <a:avLst/>
          </a:prstGeom>
          <a:solidFill>
            <a:srgbClr val="3F82D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F77E8F-1545-45E6-8B13-35A49DCA7B56}"/>
              </a:ext>
            </a:extLst>
          </p:cNvPr>
          <p:cNvSpPr txBox="1"/>
          <p:nvPr/>
        </p:nvSpPr>
        <p:spPr>
          <a:xfrm>
            <a:off x="635000" y="1270000"/>
            <a:ext cx="10922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 sz="2000" b="1">
                <a:solidFill>
                  <a:srgbClr val="FFFFFF"/>
                </a:solidFill>
              </a:rPr>
              <a:t>SQLite — встроенная реляционная база данных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14B8ECA-9E79-4432-8B05-808B559F190F}"/>
              </a:ext>
            </a:extLst>
          </p:cNvPr>
          <p:cNvSpPr txBox="1"/>
          <p:nvPr/>
        </p:nvSpPr>
        <p:spPr>
          <a:xfrm>
            <a:off x="952500" y="1841500"/>
            <a:ext cx="10795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 sz="1400">
                <a:solidFill>
                  <a:srgbClr val="C8D2E1"/>
                </a:solidFill>
              </a:rPr>
              <a:t>Не требует установки отдельного сервера — работает «из коробки»</a:t>
            </a:r>
          </a:p>
        </p:txBody>
      </p:sp>
      <p:sp>
        <p:nvSpPr>
          <p:cNvPr id="9" name="Овал 8">
            <a:extLst>
              <a:ext uri="{FF2B5EF4-FFF2-40B4-BE49-F238E27FC236}">
                <a16:creationId xmlns:a16="http://schemas.microsoft.com/office/drawing/2014/main" id="{447D04A7-974A-4659-A863-E7FBD69656C5}"/>
              </a:ext>
            </a:extLst>
          </p:cNvPr>
          <p:cNvSpPr/>
          <p:nvPr/>
        </p:nvSpPr>
        <p:spPr>
          <a:xfrm>
            <a:off x="762000" y="1930400"/>
            <a:ext cx="101600" cy="101600"/>
          </a:xfrm>
          <a:prstGeom prst="ellipse">
            <a:avLst/>
          </a:prstGeom>
          <a:solidFill>
            <a:srgbClr val="3F82D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E8075E-7E6D-41B6-B217-91B88BB79A71}"/>
              </a:ext>
            </a:extLst>
          </p:cNvPr>
          <p:cNvSpPr txBox="1"/>
          <p:nvPr/>
        </p:nvSpPr>
        <p:spPr>
          <a:xfrm>
            <a:off x="952500" y="2184400"/>
            <a:ext cx="10795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 sz="1400">
                <a:solidFill>
                  <a:srgbClr val="C8D2E1"/>
                </a:solidFill>
              </a:rPr>
              <a:t>Хранится в одном файле .db на устройстве пользователя</a:t>
            </a:r>
          </a:p>
        </p:txBody>
      </p:sp>
      <p:sp>
        <p:nvSpPr>
          <p:cNvPr id="11" name="Овал 10">
            <a:extLst>
              <a:ext uri="{FF2B5EF4-FFF2-40B4-BE49-F238E27FC236}">
                <a16:creationId xmlns:a16="http://schemas.microsoft.com/office/drawing/2014/main" id="{01A2EB5A-9CF2-4DFB-A3C8-3BE141F34243}"/>
              </a:ext>
            </a:extLst>
          </p:cNvPr>
          <p:cNvSpPr/>
          <p:nvPr/>
        </p:nvSpPr>
        <p:spPr>
          <a:xfrm>
            <a:off x="762000" y="2273300"/>
            <a:ext cx="101600" cy="101600"/>
          </a:xfrm>
          <a:prstGeom prst="ellipse">
            <a:avLst/>
          </a:prstGeom>
          <a:solidFill>
            <a:srgbClr val="3F82D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767DB42-226A-4273-A623-F2CD9BDD8A1C}"/>
              </a:ext>
            </a:extLst>
          </p:cNvPr>
          <p:cNvSpPr txBox="1"/>
          <p:nvPr/>
        </p:nvSpPr>
        <p:spPr>
          <a:xfrm>
            <a:off x="952500" y="2527300"/>
            <a:ext cx="10795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 sz="1400">
                <a:solidFill>
                  <a:srgbClr val="C8D2E1"/>
                </a:solidFill>
              </a:rPr>
              <a:t>Поддерживает стандартные SQL-запросы (SELECT, INSERT, UPDATE)</a:t>
            </a:r>
          </a:p>
        </p:txBody>
      </p:sp>
      <p:sp>
        <p:nvSpPr>
          <p:cNvPr id="13" name="Овал 12">
            <a:extLst>
              <a:ext uri="{FF2B5EF4-FFF2-40B4-BE49-F238E27FC236}">
                <a16:creationId xmlns:a16="http://schemas.microsoft.com/office/drawing/2014/main" id="{57D3F5DF-918F-4BE8-B105-A2D4423A0397}"/>
              </a:ext>
            </a:extLst>
          </p:cNvPr>
          <p:cNvSpPr/>
          <p:nvPr/>
        </p:nvSpPr>
        <p:spPr>
          <a:xfrm>
            <a:off x="762000" y="2616200"/>
            <a:ext cx="101600" cy="101600"/>
          </a:xfrm>
          <a:prstGeom prst="ellipse">
            <a:avLst/>
          </a:prstGeom>
          <a:solidFill>
            <a:srgbClr val="3F82D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FBF9FEA-16EB-43E5-8678-208B69B6CD7E}"/>
              </a:ext>
            </a:extLst>
          </p:cNvPr>
          <p:cNvSpPr txBox="1"/>
          <p:nvPr/>
        </p:nvSpPr>
        <p:spPr>
          <a:xfrm>
            <a:off x="952500" y="2870200"/>
            <a:ext cx="10795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 sz="1400">
                <a:solidFill>
                  <a:srgbClr val="C8D2E1"/>
                </a:solidFill>
              </a:rPr>
              <a:t>Минимальное потребление оперативной памяти</a:t>
            </a:r>
          </a:p>
        </p:txBody>
      </p:sp>
      <p:sp>
        <p:nvSpPr>
          <p:cNvPr id="15" name="Овал 14">
            <a:extLst>
              <a:ext uri="{FF2B5EF4-FFF2-40B4-BE49-F238E27FC236}">
                <a16:creationId xmlns:a16="http://schemas.microsoft.com/office/drawing/2014/main" id="{5221ADF1-E823-4241-A6BE-1241C3DF5754}"/>
              </a:ext>
            </a:extLst>
          </p:cNvPr>
          <p:cNvSpPr/>
          <p:nvPr/>
        </p:nvSpPr>
        <p:spPr>
          <a:xfrm>
            <a:off x="762000" y="2959100"/>
            <a:ext cx="101600" cy="101600"/>
          </a:xfrm>
          <a:prstGeom prst="ellipse">
            <a:avLst/>
          </a:prstGeom>
          <a:solidFill>
            <a:srgbClr val="3F82D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122113A-4110-446C-8DB8-A10E02B2EE2C}"/>
              </a:ext>
            </a:extLst>
          </p:cNvPr>
          <p:cNvSpPr txBox="1"/>
          <p:nvPr/>
        </p:nvSpPr>
        <p:spPr>
          <a:xfrm>
            <a:off x="952500" y="3213100"/>
            <a:ext cx="10795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 sz="1400">
                <a:solidFill>
                  <a:srgbClr val="C8D2E1"/>
                </a:solidFill>
              </a:rPr>
              <a:t>Встроенная поддержка в Flutter через пакет sqflite</a:t>
            </a:r>
          </a:p>
        </p:txBody>
      </p:sp>
      <p:sp>
        <p:nvSpPr>
          <p:cNvPr id="17" name="Овал 16">
            <a:extLst>
              <a:ext uri="{FF2B5EF4-FFF2-40B4-BE49-F238E27FC236}">
                <a16:creationId xmlns:a16="http://schemas.microsoft.com/office/drawing/2014/main" id="{BCEF9CFC-1359-47F4-A568-7CE2038337F1}"/>
              </a:ext>
            </a:extLst>
          </p:cNvPr>
          <p:cNvSpPr/>
          <p:nvPr/>
        </p:nvSpPr>
        <p:spPr>
          <a:xfrm>
            <a:off x="762000" y="3302000"/>
            <a:ext cx="101600" cy="101600"/>
          </a:xfrm>
          <a:prstGeom prst="ellipse">
            <a:avLst/>
          </a:prstGeom>
          <a:solidFill>
            <a:srgbClr val="3F82D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BC2E06C-2256-4580-90BC-806AE34C0FA8}"/>
              </a:ext>
            </a:extLst>
          </p:cNvPr>
          <p:cNvSpPr txBox="1"/>
          <p:nvPr/>
        </p:nvSpPr>
        <p:spPr>
          <a:xfrm>
            <a:off x="952500" y="3556000"/>
            <a:ext cx="10795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 sz="1400">
                <a:solidFill>
                  <a:srgbClr val="C8D2E1"/>
                </a:solidFill>
              </a:rPr>
              <a:t>Транзакции и внешние ключи для целостности данных</a:t>
            </a:r>
          </a:p>
        </p:txBody>
      </p:sp>
      <p:sp>
        <p:nvSpPr>
          <p:cNvPr id="19" name="Овал 18">
            <a:extLst>
              <a:ext uri="{FF2B5EF4-FFF2-40B4-BE49-F238E27FC236}">
                <a16:creationId xmlns:a16="http://schemas.microsoft.com/office/drawing/2014/main" id="{656E234B-9DF2-4280-84D1-FDFEAF0ECFF6}"/>
              </a:ext>
            </a:extLst>
          </p:cNvPr>
          <p:cNvSpPr/>
          <p:nvPr/>
        </p:nvSpPr>
        <p:spPr>
          <a:xfrm>
            <a:off x="762000" y="3644900"/>
            <a:ext cx="101600" cy="101600"/>
          </a:xfrm>
          <a:prstGeom prst="ellipse">
            <a:avLst/>
          </a:prstGeom>
          <a:solidFill>
            <a:srgbClr val="3F82D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F24A139-1E26-47ED-9407-165BA5C3F5F3}"/>
              </a:ext>
            </a:extLst>
          </p:cNvPr>
          <p:cNvSpPr txBox="1"/>
          <p:nvPr/>
        </p:nvSpPr>
        <p:spPr>
          <a:xfrm>
            <a:off x="952500" y="3898900"/>
            <a:ext cx="10795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 sz="1400">
                <a:solidFill>
                  <a:srgbClr val="C8D2E1"/>
                </a:solidFill>
              </a:rPr>
              <a:t>Мгновенный доступ без интернет-соединения</a:t>
            </a:r>
          </a:p>
        </p:txBody>
      </p:sp>
      <p:sp>
        <p:nvSpPr>
          <p:cNvPr id="21" name="Овал 20">
            <a:extLst>
              <a:ext uri="{FF2B5EF4-FFF2-40B4-BE49-F238E27FC236}">
                <a16:creationId xmlns:a16="http://schemas.microsoft.com/office/drawing/2014/main" id="{48AC3A16-8E4D-4B3F-8755-093EC6CB7563}"/>
              </a:ext>
            </a:extLst>
          </p:cNvPr>
          <p:cNvSpPr/>
          <p:nvPr/>
        </p:nvSpPr>
        <p:spPr>
          <a:xfrm>
            <a:off x="762000" y="3987800"/>
            <a:ext cx="101600" cy="101600"/>
          </a:xfrm>
          <a:prstGeom prst="ellipse">
            <a:avLst/>
          </a:prstGeom>
          <a:solidFill>
            <a:srgbClr val="3F82D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303D0E35-7B71-41E3-83A1-052D5A055D50}"/>
              </a:ext>
            </a:extLst>
          </p:cNvPr>
          <p:cNvSpPr/>
          <p:nvPr/>
        </p:nvSpPr>
        <p:spPr>
          <a:xfrm>
            <a:off x="635000" y="4699000"/>
            <a:ext cx="10922000" cy="698500"/>
          </a:xfrm>
          <a:prstGeom prst="rect">
            <a:avLst/>
          </a:prstGeom>
          <a:solidFill>
            <a:srgbClr val="3F82D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b="1">
                <a:solidFill>
                  <a:srgbClr val="FFFFFF"/>
                </a:solidFill>
              </a:rPr>
              <a:t>Итог: SQLite — оптимальный выбор для локального мобильного приложения</a:t>
            </a:r>
          </a:p>
        </p:txBody>
      </p:sp>
    </p:spTree>
    <p:extLst>
      <p:ext uri="{BB962C8B-B14F-4D97-AF65-F5344CB8AC3E}">
        <p14:creationId xmlns:p14="http://schemas.microsoft.com/office/powerpoint/2010/main" val="37041318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78731B-37B6-4748-B034-91A85EE7E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7710F9D-49F2-467C-8ED3-C28985104D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0895DF9-7AD2-4D11-A2F2-BD3911C3026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9233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9B349B-641A-4ACC-B5F3-F35D9021971F}"/>
              </a:ext>
            </a:extLst>
          </p:cNvPr>
          <p:cNvSpPr txBox="1"/>
          <p:nvPr/>
        </p:nvSpPr>
        <p:spPr>
          <a:xfrm>
            <a:off x="508000" y="317500"/>
            <a:ext cx="11176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 sz="2800" b="1">
                <a:solidFill>
                  <a:srgbClr val="FFFFFF"/>
                </a:solidFill>
              </a:rPr>
              <a:t>Демонстрация 1 — Главный экран и каталог товаров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60702AD6-9C71-4BD5-9D86-496BC646A997}"/>
              </a:ext>
            </a:extLst>
          </p:cNvPr>
          <p:cNvSpPr/>
          <p:nvPr/>
        </p:nvSpPr>
        <p:spPr>
          <a:xfrm>
            <a:off x="508000" y="1016000"/>
            <a:ext cx="11176000" cy="50800"/>
          </a:xfrm>
          <a:prstGeom prst="rect">
            <a:avLst/>
          </a:prstGeom>
          <a:solidFill>
            <a:srgbClr val="3F82D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12EF3E-3B57-4C6F-961F-A63089123594}"/>
              </a:ext>
            </a:extLst>
          </p:cNvPr>
          <p:cNvSpPr txBox="1"/>
          <p:nvPr/>
        </p:nvSpPr>
        <p:spPr>
          <a:xfrm>
            <a:off x="889000" y="1333500"/>
            <a:ext cx="11049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 sz="1400">
                <a:solidFill>
                  <a:srgbClr val="C8D2E1"/>
                </a:solidFill>
              </a:rPr>
              <a:t>• Список всех товаров с количеством и ценой в рублях</a:t>
            </a:r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D27AAE7C-5803-4576-9F79-59FA30F39267}"/>
              </a:ext>
            </a:extLst>
          </p:cNvPr>
          <p:cNvSpPr/>
          <p:nvPr/>
        </p:nvSpPr>
        <p:spPr>
          <a:xfrm>
            <a:off x="698500" y="1422400"/>
            <a:ext cx="101600" cy="101600"/>
          </a:xfrm>
          <a:prstGeom prst="ellipse">
            <a:avLst/>
          </a:prstGeom>
          <a:solidFill>
            <a:srgbClr val="3F82D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EE4A18-99B7-4B26-AAF1-A264DFB87EBB}"/>
              </a:ext>
            </a:extLst>
          </p:cNvPr>
          <p:cNvSpPr txBox="1"/>
          <p:nvPr/>
        </p:nvSpPr>
        <p:spPr>
          <a:xfrm>
            <a:off x="889000" y="1689100"/>
            <a:ext cx="11049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 sz="1400">
                <a:solidFill>
                  <a:srgbClr val="C8D2E1"/>
                </a:solidFill>
              </a:rPr>
              <a:t>• Поиск по названию или категории товара</a:t>
            </a:r>
          </a:p>
        </p:txBody>
      </p:sp>
      <p:sp>
        <p:nvSpPr>
          <p:cNvPr id="10" name="Овал 9">
            <a:extLst>
              <a:ext uri="{FF2B5EF4-FFF2-40B4-BE49-F238E27FC236}">
                <a16:creationId xmlns:a16="http://schemas.microsoft.com/office/drawing/2014/main" id="{1B236751-D735-4B82-8769-C43FC03ADA5E}"/>
              </a:ext>
            </a:extLst>
          </p:cNvPr>
          <p:cNvSpPr/>
          <p:nvPr/>
        </p:nvSpPr>
        <p:spPr>
          <a:xfrm>
            <a:off x="698500" y="1778000"/>
            <a:ext cx="101600" cy="101600"/>
          </a:xfrm>
          <a:prstGeom prst="ellipse">
            <a:avLst/>
          </a:prstGeom>
          <a:solidFill>
            <a:srgbClr val="3F82D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0E452A4-DCA6-4667-A880-FAB181524861}"/>
              </a:ext>
            </a:extLst>
          </p:cNvPr>
          <p:cNvSpPr txBox="1"/>
          <p:nvPr/>
        </p:nvSpPr>
        <p:spPr>
          <a:xfrm>
            <a:off x="889000" y="2044700"/>
            <a:ext cx="11049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 sz="1400">
                <a:solidFill>
                  <a:srgbClr val="C8D2E1"/>
                </a:solidFill>
              </a:rPr>
              <a:t>• Фильтрация по категориям (удобные чипсы)</a:t>
            </a:r>
          </a:p>
        </p:txBody>
      </p:sp>
      <p:sp>
        <p:nvSpPr>
          <p:cNvPr id="12" name="Овал 11">
            <a:extLst>
              <a:ext uri="{FF2B5EF4-FFF2-40B4-BE49-F238E27FC236}">
                <a16:creationId xmlns:a16="http://schemas.microsoft.com/office/drawing/2014/main" id="{2564566F-0391-4305-8E4A-F923BDA80A36}"/>
              </a:ext>
            </a:extLst>
          </p:cNvPr>
          <p:cNvSpPr/>
          <p:nvPr/>
        </p:nvSpPr>
        <p:spPr>
          <a:xfrm>
            <a:off x="698500" y="2133600"/>
            <a:ext cx="101600" cy="101600"/>
          </a:xfrm>
          <a:prstGeom prst="ellipse">
            <a:avLst/>
          </a:prstGeom>
          <a:solidFill>
            <a:srgbClr val="3F82D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DC47F56-8417-4286-90FC-50ADBF9EC0B8}"/>
              </a:ext>
            </a:extLst>
          </p:cNvPr>
          <p:cNvSpPr txBox="1"/>
          <p:nvPr/>
        </p:nvSpPr>
        <p:spPr>
          <a:xfrm>
            <a:off x="889000" y="2400300"/>
            <a:ext cx="11049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 sz="1400">
                <a:solidFill>
                  <a:srgbClr val="C8D2E1"/>
                </a:solidFill>
              </a:rPr>
              <a:t>• Быстрые действия: закупка, продажа, редактирование</a:t>
            </a:r>
          </a:p>
        </p:txBody>
      </p:sp>
      <p:sp>
        <p:nvSpPr>
          <p:cNvPr id="14" name="Овал 13">
            <a:extLst>
              <a:ext uri="{FF2B5EF4-FFF2-40B4-BE49-F238E27FC236}">
                <a16:creationId xmlns:a16="http://schemas.microsoft.com/office/drawing/2014/main" id="{0DD81E78-A9D4-4DFE-A1CA-91E974CAE2A7}"/>
              </a:ext>
            </a:extLst>
          </p:cNvPr>
          <p:cNvSpPr/>
          <p:nvPr/>
        </p:nvSpPr>
        <p:spPr>
          <a:xfrm>
            <a:off x="698500" y="2489200"/>
            <a:ext cx="101600" cy="101600"/>
          </a:xfrm>
          <a:prstGeom prst="ellipse">
            <a:avLst/>
          </a:prstGeom>
          <a:solidFill>
            <a:srgbClr val="3F82D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E3A2D9D-B358-4C8B-A75E-291D18C77DE5}"/>
              </a:ext>
            </a:extLst>
          </p:cNvPr>
          <p:cNvSpPr txBox="1"/>
          <p:nvPr/>
        </p:nvSpPr>
        <p:spPr>
          <a:xfrm>
            <a:off x="889000" y="2755900"/>
            <a:ext cx="11049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 sz="1400">
                <a:solidFill>
                  <a:srgbClr val="C8D2E1"/>
                </a:solidFill>
              </a:rPr>
              <a:t>• Добавление и удаление категорий долгим нажатием</a:t>
            </a:r>
          </a:p>
        </p:txBody>
      </p:sp>
      <p:sp>
        <p:nvSpPr>
          <p:cNvPr id="16" name="Овал 15">
            <a:extLst>
              <a:ext uri="{FF2B5EF4-FFF2-40B4-BE49-F238E27FC236}">
                <a16:creationId xmlns:a16="http://schemas.microsoft.com/office/drawing/2014/main" id="{CD205A07-B205-4A0F-889F-6DB748E2F975}"/>
              </a:ext>
            </a:extLst>
          </p:cNvPr>
          <p:cNvSpPr/>
          <p:nvPr/>
        </p:nvSpPr>
        <p:spPr>
          <a:xfrm>
            <a:off x="698500" y="2844800"/>
            <a:ext cx="101600" cy="101600"/>
          </a:xfrm>
          <a:prstGeom prst="ellipse">
            <a:avLst/>
          </a:prstGeom>
          <a:solidFill>
            <a:srgbClr val="3F82D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193721A-32B7-424C-B697-9AE9D3B045DD}"/>
              </a:ext>
            </a:extLst>
          </p:cNvPr>
          <p:cNvSpPr txBox="1"/>
          <p:nvPr/>
        </p:nvSpPr>
        <p:spPr>
          <a:xfrm>
            <a:off x="889000" y="3111500"/>
            <a:ext cx="11049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 sz="1400">
                <a:solidFill>
                  <a:srgbClr val="C8D2E1"/>
                </a:solidFill>
              </a:rPr>
              <a:t>• Тёмная и светлая тема оформления</a:t>
            </a:r>
          </a:p>
        </p:txBody>
      </p:sp>
      <p:sp>
        <p:nvSpPr>
          <p:cNvPr id="18" name="Овал 17">
            <a:extLst>
              <a:ext uri="{FF2B5EF4-FFF2-40B4-BE49-F238E27FC236}">
                <a16:creationId xmlns:a16="http://schemas.microsoft.com/office/drawing/2014/main" id="{1CC56448-B406-4745-B603-8390C39BE8B2}"/>
              </a:ext>
            </a:extLst>
          </p:cNvPr>
          <p:cNvSpPr/>
          <p:nvPr/>
        </p:nvSpPr>
        <p:spPr>
          <a:xfrm>
            <a:off x="698500" y="3200400"/>
            <a:ext cx="101600" cy="101600"/>
          </a:xfrm>
          <a:prstGeom prst="ellipse">
            <a:avLst/>
          </a:prstGeom>
          <a:solidFill>
            <a:srgbClr val="3F82D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Овал 18">
            <a:extLst>
              <a:ext uri="{FF2B5EF4-FFF2-40B4-BE49-F238E27FC236}">
                <a16:creationId xmlns:a16="http://schemas.microsoft.com/office/drawing/2014/main" id="{C1AF79C5-D297-4C71-B807-0614F874E422}"/>
              </a:ext>
            </a:extLst>
          </p:cNvPr>
          <p:cNvSpPr/>
          <p:nvPr/>
        </p:nvSpPr>
        <p:spPr>
          <a:xfrm>
            <a:off x="11049000" y="6032500"/>
            <a:ext cx="508000" cy="508000"/>
          </a:xfrm>
          <a:prstGeom prst="ellipse">
            <a:avLst/>
          </a:prstGeom>
          <a:solidFill>
            <a:srgbClr val="3F82D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b="1">
                <a:solidFill>
                  <a:srgbClr val="FFFFFF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9824418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2DEE52-2506-4F07-BFEB-0F3463474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EAFF16D-BCB4-4541-AF3B-AFC58F0D35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05811819-808A-41DB-A4E0-BFA278C8117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9233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8DD0D3-51D9-4BF0-ACDD-FE0816A08C56}"/>
              </a:ext>
            </a:extLst>
          </p:cNvPr>
          <p:cNvSpPr txBox="1"/>
          <p:nvPr/>
        </p:nvSpPr>
        <p:spPr>
          <a:xfrm>
            <a:off x="508000" y="317500"/>
            <a:ext cx="11176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 sz="2800" b="1">
                <a:solidFill>
                  <a:srgbClr val="FFFFFF"/>
                </a:solidFill>
              </a:rPr>
              <a:t>Демонстрация 2 — Закупка и продажа товаров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79DDF076-8120-4395-8454-A021EE11C324}"/>
              </a:ext>
            </a:extLst>
          </p:cNvPr>
          <p:cNvSpPr/>
          <p:nvPr/>
        </p:nvSpPr>
        <p:spPr>
          <a:xfrm>
            <a:off x="508000" y="1016000"/>
            <a:ext cx="11176000" cy="50800"/>
          </a:xfrm>
          <a:prstGeom prst="rect">
            <a:avLst/>
          </a:prstGeom>
          <a:solidFill>
            <a:srgbClr val="3F82D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64C991-DFEA-4BD8-9358-C30E09F75466}"/>
              </a:ext>
            </a:extLst>
          </p:cNvPr>
          <p:cNvSpPr txBox="1"/>
          <p:nvPr/>
        </p:nvSpPr>
        <p:spPr>
          <a:xfrm>
            <a:off x="889000" y="1333500"/>
            <a:ext cx="11049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 sz="1400">
                <a:solidFill>
                  <a:srgbClr val="C8D2E1"/>
                </a:solidFill>
              </a:rPr>
              <a:t>• Закупка: выбор категории → выбор товара → форма</a:t>
            </a:r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C28B558F-555E-4BE9-B570-59FFD5250279}"/>
              </a:ext>
            </a:extLst>
          </p:cNvPr>
          <p:cNvSpPr/>
          <p:nvPr/>
        </p:nvSpPr>
        <p:spPr>
          <a:xfrm>
            <a:off x="698500" y="1422400"/>
            <a:ext cx="101600" cy="101600"/>
          </a:xfrm>
          <a:prstGeom prst="ellipse">
            <a:avLst/>
          </a:prstGeom>
          <a:solidFill>
            <a:srgbClr val="3F82D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E38519-D6CC-4AF7-81B8-3253CCE2AF28}"/>
              </a:ext>
            </a:extLst>
          </p:cNvPr>
          <p:cNvSpPr txBox="1"/>
          <p:nvPr/>
        </p:nvSpPr>
        <p:spPr>
          <a:xfrm>
            <a:off x="889000" y="1689100"/>
            <a:ext cx="11049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 sz="1400">
                <a:solidFill>
                  <a:srgbClr val="C8D2E1"/>
                </a:solidFill>
              </a:rPr>
              <a:t>• Продажа: выбор товара → количество, цена, покупатель</a:t>
            </a:r>
          </a:p>
        </p:txBody>
      </p:sp>
      <p:sp>
        <p:nvSpPr>
          <p:cNvPr id="10" name="Овал 9">
            <a:extLst>
              <a:ext uri="{FF2B5EF4-FFF2-40B4-BE49-F238E27FC236}">
                <a16:creationId xmlns:a16="http://schemas.microsoft.com/office/drawing/2014/main" id="{47D9AECC-DC3F-4565-B8F1-ADEA08D9C5B7}"/>
              </a:ext>
            </a:extLst>
          </p:cNvPr>
          <p:cNvSpPr/>
          <p:nvPr/>
        </p:nvSpPr>
        <p:spPr>
          <a:xfrm>
            <a:off x="698500" y="1778000"/>
            <a:ext cx="101600" cy="101600"/>
          </a:xfrm>
          <a:prstGeom prst="ellipse">
            <a:avLst/>
          </a:prstGeom>
          <a:solidFill>
            <a:srgbClr val="3F82D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34FAAA2-54C7-4294-A6CF-D03379C76038}"/>
              </a:ext>
            </a:extLst>
          </p:cNvPr>
          <p:cNvSpPr txBox="1"/>
          <p:nvPr/>
        </p:nvSpPr>
        <p:spPr>
          <a:xfrm>
            <a:off x="889000" y="2044700"/>
            <a:ext cx="11049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 sz="1400">
                <a:solidFill>
                  <a:srgbClr val="C8D2E1"/>
                </a:solidFill>
              </a:rPr>
              <a:t>• Автоматическая подстановка цены товара при продаже</a:t>
            </a:r>
          </a:p>
        </p:txBody>
      </p:sp>
      <p:sp>
        <p:nvSpPr>
          <p:cNvPr id="12" name="Овал 11">
            <a:extLst>
              <a:ext uri="{FF2B5EF4-FFF2-40B4-BE49-F238E27FC236}">
                <a16:creationId xmlns:a16="http://schemas.microsoft.com/office/drawing/2014/main" id="{D331FB45-3908-4B35-8786-73C7AA278751}"/>
              </a:ext>
            </a:extLst>
          </p:cNvPr>
          <p:cNvSpPr/>
          <p:nvPr/>
        </p:nvSpPr>
        <p:spPr>
          <a:xfrm>
            <a:off x="698500" y="2133600"/>
            <a:ext cx="101600" cy="101600"/>
          </a:xfrm>
          <a:prstGeom prst="ellipse">
            <a:avLst/>
          </a:prstGeom>
          <a:solidFill>
            <a:srgbClr val="3F82D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21C88ED-3A3F-4EC0-B08A-1ADF70F63CED}"/>
              </a:ext>
            </a:extLst>
          </p:cNvPr>
          <p:cNvSpPr txBox="1"/>
          <p:nvPr/>
        </p:nvSpPr>
        <p:spPr>
          <a:xfrm>
            <a:off x="889000" y="2400300"/>
            <a:ext cx="11049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 sz="1400">
                <a:solidFill>
                  <a:srgbClr val="C8D2E1"/>
                </a:solidFill>
              </a:rPr>
              <a:t>• Выбор контрагента из прошлых поставок</a:t>
            </a:r>
          </a:p>
        </p:txBody>
      </p:sp>
      <p:sp>
        <p:nvSpPr>
          <p:cNvPr id="14" name="Овал 13">
            <a:extLst>
              <a:ext uri="{FF2B5EF4-FFF2-40B4-BE49-F238E27FC236}">
                <a16:creationId xmlns:a16="http://schemas.microsoft.com/office/drawing/2014/main" id="{061DCE65-9E39-41A0-9AF3-28108B91CA1E}"/>
              </a:ext>
            </a:extLst>
          </p:cNvPr>
          <p:cNvSpPr/>
          <p:nvPr/>
        </p:nvSpPr>
        <p:spPr>
          <a:xfrm>
            <a:off x="698500" y="2489200"/>
            <a:ext cx="101600" cy="101600"/>
          </a:xfrm>
          <a:prstGeom prst="ellipse">
            <a:avLst/>
          </a:prstGeom>
          <a:solidFill>
            <a:srgbClr val="3F82D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51E8936-BCE1-472D-81B6-2EAC23E66CE4}"/>
              </a:ext>
            </a:extLst>
          </p:cNvPr>
          <p:cNvSpPr txBox="1"/>
          <p:nvPr/>
        </p:nvSpPr>
        <p:spPr>
          <a:xfrm>
            <a:off x="889000" y="2755900"/>
            <a:ext cx="11049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 sz="1400">
                <a:solidFill>
                  <a:srgbClr val="C8D2E1"/>
                </a:solidFill>
              </a:rPr>
              <a:t>• Добавление нового поставщика/покупателя</a:t>
            </a:r>
          </a:p>
        </p:txBody>
      </p:sp>
      <p:sp>
        <p:nvSpPr>
          <p:cNvPr id="16" name="Овал 15">
            <a:extLst>
              <a:ext uri="{FF2B5EF4-FFF2-40B4-BE49-F238E27FC236}">
                <a16:creationId xmlns:a16="http://schemas.microsoft.com/office/drawing/2014/main" id="{72E5F4B8-B169-44D8-A508-BD6FA81A08CA}"/>
              </a:ext>
            </a:extLst>
          </p:cNvPr>
          <p:cNvSpPr/>
          <p:nvPr/>
        </p:nvSpPr>
        <p:spPr>
          <a:xfrm>
            <a:off x="698500" y="2844800"/>
            <a:ext cx="101600" cy="101600"/>
          </a:xfrm>
          <a:prstGeom prst="ellipse">
            <a:avLst/>
          </a:prstGeom>
          <a:solidFill>
            <a:srgbClr val="3F82D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F9486C6-65AC-4C8D-A53B-008AE9FC099D}"/>
              </a:ext>
            </a:extLst>
          </p:cNvPr>
          <p:cNvSpPr txBox="1"/>
          <p:nvPr/>
        </p:nvSpPr>
        <p:spPr>
          <a:xfrm>
            <a:off x="889000" y="3111500"/>
            <a:ext cx="11049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 sz="1400">
                <a:solidFill>
                  <a:srgbClr val="C8D2E1"/>
                </a:solidFill>
              </a:rPr>
              <a:t>• Проверка остатка — нельзя продать больше, чем есть</a:t>
            </a:r>
          </a:p>
        </p:txBody>
      </p:sp>
      <p:sp>
        <p:nvSpPr>
          <p:cNvPr id="18" name="Овал 17">
            <a:extLst>
              <a:ext uri="{FF2B5EF4-FFF2-40B4-BE49-F238E27FC236}">
                <a16:creationId xmlns:a16="http://schemas.microsoft.com/office/drawing/2014/main" id="{A8F5C151-6734-4D28-82DE-A2F4743FBFC8}"/>
              </a:ext>
            </a:extLst>
          </p:cNvPr>
          <p:cNvSpPr/>
          <p:nvPr/>
        </p:nvSpPr>
        <p:spPr>
          <a:xfrm>
            <a:off x="698500" y="3200400"/>
            <a:ext cx="101600" cy="101600"/>
          </a:xfrm>
          <a:prstGeom prst="ellipse">
            <a:avLst/>
          </a:prstGeom>
          <a:solidFill>
            <a:srgbClr val="3F82D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Овал 18">
            <a:extLst>
              <a:ext uri="{FF2B5EF4-FFF2-40B4-BE49-F238E27FC236}">
                <a16:creationId xmlns:a16="http://schemas.microsoft.com/office/drawing/2014/main" id="{E1BE9609-2227-4888-A4FA-81CA2E144C34}"/>
              </a:ext>
            </a:extLst>
          </p:cNvPr>
          <p:cNvSpPr/>
          <p:nvPr/>
        </p:nvSpPr>
        <p:spPr>
          <a:xfrm>
            <a:off x="11049000" y="6032500"/>
            <a:ext cx="508000" cy="508000"/>
          </a:xfrm>
          <a:prstGeom prst="ellipse">
            <a:avLst/>
          </a:prstGeom>
          <a:solidFill>
            <a:srgbClr val="3F82D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b="1">
                <a:solidFill>
                  <a:srgbClr val="FFFFFF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5172597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D39B61-33A8-4344-9765-4B680B8B3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E4930A4-0B02-4993-857E-75CB233034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431CEB9-2936-45D4-ADC8-9596E91B62E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9233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58086A-7259-4178-86B3-DF0B39A92A96}"/>
              </a:ext>
            </a:extLst>
          </p:cNvPr>
          <p:cNvSpPr txBox="1"/>
          <p:nvPr/>
        </p:nvSpPr>
        <p:spPr>
          <a:xfrm>
            <a:off x="508000" y="317500"/>
            <a:ext cx="11176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 sz="2800" b="1">
                <a:solidFill>
                  <a:srgbClr val="FFFFFF"/>
                </a:solidFill>
              </a:rPr>
              <a:t>Демонстрация 3 — Контрагенты и статистика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8FE55D7-B63B-4E18-A7EF-16426C5C2049}"/>
              </a:ext>
            </a:extLst>
          </p:cNvPr>
          <p:cNvSpPr/>
          <p:nvPr/>
        </p:nvSpPr>
        <p:spPr>
          <a:xfrm>
            <a:off x="508000" y="1016000"/>
            <a:ext cx="11176000" cy="50800"/>
          </a:xfrm>
          <a:prstGeom prst="rect">
            <a:avLst/>
          </a:prstGeom>
          <a:solidFill>
            <a:srgbClr val="3F82D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5B68B1-13FD-48D7-965A-73724BA33E79}"/>
              </a:ext>
            </a:extLst>
          </p:cNvPr>
          <p:cNvSpPr txBox="1"/>
          <p:nvPr/>
        </p:nvSpPr>
        <p:spPr>
          <a:xfrm>
            <a:off x="889000" y="1333500"/>
            <a:ext cx="11049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 sz="1400">
                <a:solidFill>
                  <a:srgbClr val="C8D2E1"/>
                </a:solidFill>
              </a:rPr>
              <a:t>• Список поставщиков с суммой и количеством закупок</a:t>
            </a:r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F1E9BA51-C5F9-44E0-9220-ACA3FD1EE151}"/>
              </a:ext>
            </a:extLst>
          </p:cNvPr>
          <p:cNvSpPr/>
          <p:nvPr/>
        </p:nvSpPr>
        <p:spPr>
          <a:xfrm>
            <a:off x="698500" y="1422400"/>
            <a:ext cx="101600" cy="101600"/>
          </a:xfrm>
          <a:prstGeom prst="ellipse">
            <a:avLst/>
          </a:prstGeom>
          <a:solidFill>
            <a:srgbClr val="3F82D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C42985-F8E9-458E-B219-A5EF7C210E59}"/>
              </a:ext>
            </a:extLst>
          </p:cNvPr>
          <p:cNvSpPr txBox="1"/>
          <p:nvPr/>
        </p:nvSpPr>
        <p:spPr>
          <a:xfrm>
            <a:off x="889000" y="1689100"/>
            <a:ext cx="11049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 sz="1400">
                <a:solidFill>
                  <a:srgbClr val="C8D2E1"/>
                </a:solidFill>
              </a:rPr>
              <a:t>• Список покупателей с историей продаж</a:t>
            </a:r>
          </a:p>
        </p:txBody>
      </p:sp>
      <p:sp>
        <p:nvSpPr>
          <p:cNvPr id="10" name="Овал 9">
            <a:extLst>
              <a:ext uri="{FF2B5EF4-FFF2-40B4-BE49-F238E27FC236}">
                <a16:creationId xmlns:a16="http://schemas.microsoft.com/office/drawing/2014/main" id="{15FA003D-41D1-43D9-95F8-C035C2662CCD}"/>
              </a:ext>
            </a:extLst>
          </p:cNvPr>
          <p:cNvSpPr/>
          <p:nvPr/>
        </p:nvSpPr>
        <p:spPr>
          <a:xfrm>
            <a:off x="698500" y="1778000"/>
            <a:ext cx="101600" cy="101600"/>
          </a:xfrm>
          <a:prstGeom prst="ellipse">
            <a:avLst/>
          </a:prstGeom>
          <a:solidFill>
            <a:srgbClr val="3F82D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32141AF-6CA3-48C6-B3B1-61923DD83587}"/>
              </a:ext>
            </a:extLst>
          </p:cNvPr>
          <p:cNvSpPr txBox="1"/>
          <p:nvPr/>
        </p:nvSpPr>
        <p:spPr>
          <a:xfrm>
            <a:off x="889000" y="2044700"/>
            <a:ext cx="11049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 sz="1400">
                <a:solidFill>
                  <a:srgbClr val="C8D2E1"/>
                </a:solidFill>
              </a:rPr>
              <a:t>• Детальная информация по каждому контрагенту</a:t>
            </a:r>
          </a:p>
        </p:txBody>
      </p:sp>
      <p:sp>
        <p:nvSpPr>
          <p:cNvPr id="12" name="Овал 11">
            <a:extLst>
              <a:ext uri="{FF2B5EF4-FFF2-40B4-BE49-F238E27FC236}">
                <a16:creationId xmlns:a16="http://schemas.microsoft.com/office/drawing/2014/main" id="{EC7964A6-0477-432C-86F5-65923470F051}"/>
              </a:ext>
            </a:extLst>
          </p:cNvPr>
          <p:cNvSpPr/>
          <p:nvPr/>
        </p:nvSpPr>
        <p:spPr>
          <a:xfrm>
            <a:off x="698500" y="2133600"/>
            <a:ext cx="101600" cy="101600"/>
          </a:xfrm>
          <a:prstGeom prst="ellipse">
            <a:avLst/>
          </a:prstGeom>
          <a:solidFill>
            <a:srgbClr val="3F82D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10EC581-EB68-4643-AA9B-E6579D36972E}"/>
              </a:ext>
            </a:extLst>
          </p:cNvPr>
          <p:cNvSpPr txBox="1"/>
          <p:nvPr/>
        </p:nvSpPr>
        <p:spPr>
          <a:xfrm>
            <a:off x="889000" y="2400300"/>
            <a:ext cx="11049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 sz="1400">
                <a:solidFill>
                  <a:srgbClr val="C8D2E1"/>
                </a:solidFill>
              </a:rPr>
              <a:t>• Общая статистика: количество товаров, остатки, стоимость</a:t>
            </a:r>
          </a:p>
        </p:txBody>
      </p:sp>
      <p:sp>
        <p:nvSpPr>
          <p:cNvPr id="14" name="Овал 13">
            <a:extLst>
              <a:ext uri="{FF2B5EF4-FFF2-40B4-BE49-F238E27FC236}">
                <a16:creationId xmlns:a16="http://schemas.microsoft.com/office/drawing/2014/main" id="{EB5DE399-B78B-420D-9F9C-812E15F68E17}"/>
              </a:ext>
            </a:extLst>
          </p:cNvPr>
          <p:cNvSpPr/>
          <p:nvPr/>
        </p:nvSpPr>
        <p:spPr>
          <a:xfrm>
            <a:off x="698500" y="2489200"/>
            <a:ext cx="101600" cy="101600"/>
          </a:xfrm>
          <a:prstGeom prst="ellipse">
            <a:avLst/>
          </a:prstGeom>
          <a:solidFill>
            <a:srgbClr val="3F82D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16502C7-FCFE-4B22-B70E-405B895BEB9E}"/>
              </a:ext>
            </a:extLst>
          </p:cNvPr>
          <p:cNvSpPr txBox="1"/>
          <p:nvPr/>
        </p:nvSpPr>
        <p:spPr>
          <a:xfrm>
            <a:off x="889000" y="2755900"/>
            <a:ext cx="11049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 sz="1400">
                <a:solidFill>
                  <a:srgbClr val="C8D2E1"/>
                </a:solidFill>
              </a:rPr>
              <a:t>• Статистика по категориям с суммой в рублях</a:t>
            </a:r>
          </a:p>
        </p:txBody>
      </p:sp>
      <p:sp>
        <p:nvSpPr>
          <p:cNvPr id="16" name="Овал 15">
            <a:extLst>
              <a:ext uri="{FF2B5EF4-FFF2-40B4-BE49-F238E27FC236}">
                <a16:creationId xmlns:a16="http://schemas.microsoft.com/office/drawing/2014/main" id="{D1F95D17-3F9B-428E-BC27-645F6E742933}"/>
              </a:ext>
            </a:extLst>
          </p:cNvPr>
          <p:cNvSpPr/>
          <p:nvPr/>
        </p:nvSpPr>
        <p:spPr>
          <a:xfrm>
            <a:off x="698500" y="2844800"/>
            <a:ext cx="101600" cy="101600"/>
          </a:xfrm>
          <a:prstGeom prst="ellipse">
            <a:avLst/>
          </a:prstGeom>
          <a:solidFill>
            <a:srgbClr val="3F82D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DB1D6D8-FD9D-439A-A973-1DF165BFC248}"/>
              </a:ext>
            </a:extLst>
          </p:cNvPr>
          <p:cNvSpPr txBox="1"/>
          <p:nvPr/>
        </p:nvSpPr>
        <p:spPr>
          <a:xfrm>
            <a:off x="889000" y="3111500"/>
            <a:ext cx="11049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 sz="1400">
                <a:solidFill>
                  <a:srgbClr val="C8D2E1"/>
                </a:solidFill>
              </a:rPr>
              <a:t>• Лента последних операций с датами и суммами</a:t>
            </a:r>
          </a:p>
        </p:txBody>
      </p:sp>
      <p:sp>
        <p:nvSpPr>
          <p:cNvPr id="18" name="Овал 17">
            <a:extLst>
              <a:ext uri="{FF2B5EF4-FFF2-40B4-BE49-F238E27FC236}">
                <a16:creationId xmlns:a16="http://schemas.microsoft.com/office/drawing/2014/main" id="{CD4614BF-1085-4298-A1B9-D0051CFD4FDB}"/>
              </a:ext>
            </a:extLst>
          </p:cNvPr>
          <p:cNvSpPr/>
          <p:nvPr/>
        </p:nvSpPr>
        <p:spPr>
          <a:xfrm>
            <a:off x="698500" y="3200400"/>
            <a:ext cx="101600" cy="101600"/>
          </a:xfrm>
          <a:prstGeom prst="ellipse">
            <a:avLst/>
          </a:prstGeom>
          <a:solidFill>
            <a:srgbClr val="3F82D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Овал 18">
            <a:extLst>
              <a:ext uri="{FF2B5EF4-FFF2-40B4-BE49-F238E27FC236}">
                <a16:creationId xmlns:a16="http://schemas.microsoft.com/office/drawing/2014/main" id="{81740434-82C5-433A-8D35-51C57E9371CE}"/>
              </a:ext>
            </a:extLst>
          </p:cNvPr>
          <p:cNvSpPr/>
          <p:nvPr/>
        </p:nvSpPr>
        <p:spPr>
          <a:xfrm>
            <a:off x="11049000" y="6032500"/>
            <a:ext cx="508000" cy="508000"/>
          </a:xfrm>
          <a:prstGeom prst="ellipse">
            <a:avLst/>
          </a:prstGeom>
          <a:solidFill>
            <a:srgbClr val="3F82D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b="1">
                <a:solidFill>
                  <a:srgbClr val="FFFFFF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3456522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3B98AF-6463-4580-B5D3-4E1F35ED0F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5289B31-F7FC-4F33-84D7-159FBDD2C7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BDEC8723-4769-4BAC-83EE-4EF04D68101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9233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8D423B-71C5-4D24-AB67-A51134E85C48}"/>
              </a:ext>
            </a:extLst>
          </p:cNvPr>
          <p:cNvSpPr txBox="1"/>
          <p:nvPr/>
        </p:nvSpPr>
        <p:spPr>
          <a:xfrm>
            <a:off x="508000" y="317500"/>
            <a:ext cx="11176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 sz="2800" b="1">
                <a:solidFill>
                  <a:srgbClr val="FFFFFF"/>
                </a:solidFill>
              </a:rPr>
              <a:t>Демонстрация 4 — История, профиль и настройки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FB33BCF6-7293-4ED1-8E31-5E9DE33C8388}"/>
              </a:ext>
            </a:extLst>
          </p:cNvPr>
          <p:cNvSpPr/>
          <p:nvPr/>
        </p:nvSpPr>
        <p:spPr>
          <a:xfrm>
            <a:off x="508000" y="1016000"/>
            <a:ext cx="11176000" cy="50800"/>
          </a:xfrm>
          <a:prstGeom prst="rect">
            <a:avLst/>
          </a:prstGeom>
          <a:solidFill>
            <a:srgbClr val="3F82D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F1B4BE-2C9F-4474-8774-E4802865BF6A}"/>
              </a:ext>
            </a:extLst>
          </p:cNvPr>
          <p:cNvSpPr txBox="1"/>
          <p:nvPr/>
        </p:nvSpPr>
        <p:spPr>
          <a:xfrm>
            <a:off x="889000" y="1333500"/>
            <a:ext cx="11049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 sz="1400">
                <a:solidFill>
                  <a:srgbClr val="C8D2E1"/>
                </a:solidFill>
              </a:rPr>
              <a:t>• История движений по каждому товару с датами</a:t>
            </a:r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B1A7882C-11AC-4981-95F7-E311297876A7}"/>
              </a:ext>
            </a:extLst>
          </p:cNvPr>
          <p:cNvSpPr/>
          <p:nvPr/>
        </p:nvSpPr>
        <p:spPr>
          <a:xfrm>
            <a:off x="698500" y="1422400"/>
            <a:ext cx="101600" cy="101600"/>
          </a:xfrm>
          <a:prstGeom prst="ellipse">
            <a:avLst/>
          </a:prstGeom>
          <a:solidFill>
            <a:srgbClr val="3F82D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6E2AF0-8980-4BB2-86AC-B44DCCADFD66}"/>
              </a:ext>
            </a:extLst>
          </p:cNvPr>
          <p:cNvSpPr txBox="1"/>
          <p:nvPr/>
        </p:nvSpPr>
        <p:spPr>
          <a:xfrm>
            <a:off x="889000" y="1689100"/>
            <a:ext cx="11049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 sz="1400">
                <a:solidFill>
                  <a:srgbClr val="C8D2E1"/>
                </a:solidFill>
              </a:rPr>
              <a:t>• Отображение прихода и расхода в деталях товара</a:t>
            </a:r>
          </a:p>
        </p:txBody>
      </p:sp>
      <p:sp>
        <p:nvSpPr>
          <p:cNvPr id="10" name="Овал 9">
            <a:extLst>
              <a:ext uri="{FF2B5EF4-FFF2-40B4-BE49-F238E27FC236}">
                <a16:creationId xmlns:a16="http://schemas.microsoft.com/office/drawing/2014/main" id="{54EB80F7-4EDF-4CA3-A557-B7DEC006B736}"/>
              </a:ext>
            </a:extLst>
          </p:cNvPr>
          <p:cNvSpPr/>
          <p:nvPr/>
        </p:nvSpPr>
        <p:spPr>
          <a:xfrm>
            <a:off x="698500" y="1778000"/>
            <a:ext cx="101600" cy="101600"/>
          </a:xfrm>
          <a:prstGeom prst="ellipse">
            <a:avLst/>
          </a:prstGeom>
          <a:solidFill>
            <a:srgbClr val="3F82D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C4F50FC-6748-45D1-8782-C92A9C5B85BE}"/>
              </a:ext>
            </a:extLst>
          </p:cNvPr>
          <p:cNvSpPr txBox="1"/>
          <p:nvPr/>
        </p:nvSpPr>
        <p:spPr>
          <a:xfrm>
            <a:off x="889000" y="2044700"/>
            <a:ext cx="11049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 sz="1400">
                <a:solidFill>
                  <a:srgbClr val="C8D2E1"/>
                </a:solidFill>
              </a:rPr>
              <a:t>• Профиль организации (название, адрес, телефон)</a:t>
            </a:r>
          </a:p>
        </p:txBody>
      </p:sp>
      <p:sp>
        <p:nvSpPr>
          <p:cNvPr id="12" name="Овал 11">
            <a:extLst>
              <a:ext uri="{FF2B5EF4-FFF2-40B4-BE49-F238E27FC236}">
                <a16:creationId xmlns:a16="http://schemas.microsoft.com/office/drawing/2014/main" id="{1465EBEB-3FE1-48B5-81A4-4D586E00CF96}"/>
              </a:ext>
            </a:extLst>
          </p:cNvPr>
          <p:cNvSpPr/>
          <p:nvPr/>
        </p:nvSpPr>
        <p:spPr>
          <a:xfrm>
            <a:off x="698500" y="2133600"/>
            <a:ext cx="101600" cy="101600"/>
          </a:xfrm>
          <a:prstGeom prst="ellipse">
            <a:avLst/>
          </a:prstGeom>
          <a:solidFill>
            <a:srgbClr val="3F82D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8135CF5-FFC9-4120-9C82-2A70D29CA0C0}"/>
              </a:ext>
            </a:extLst>
          </p:cNvPr>
          <p:cNvSpPr txBox="1"/>
          <p:nvPr/>
        </p:nvSpPr>
        <p:spPr>
          <a:xfrm>
            <a:off x="889000" y="2400300"/>
            <a:ext cx="11049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 sz="1400">
                <a:solidFill>
                  <a:srgbClr val="C8D2E1"/>
                </a:solidFill>
              </a:rPr>
              <a:t>• Профиль пользователя (имя, должность)</a:t>
            </a:r>
          </a:p>
        </p:txBody>
      </p:sp>
      <p:sp>
        <p:nvSpPr>
          <p:cNvPr id="14" name="Овал 13">
            <a:extLst>
              <a:ext uri="{FF2B5EF4-FFF2-40B4-BE49-F238E27FC236}">
                <a16:creationId xmlns:a16="http://schemas.microsoft.com/office/drawing/2014/main" id="{6B1C69F6-63F1-4BD6-8010-0E56A2BCB4FC}"/>
              </a:ext>
            </a:extLst>
          </p:cNvPr>
          <p:cNvSpPr/>
          <p:nvPr/>
        </p:nvSpPr>
        <p:spPr>
          <a:xfrm>
            <a:off x="698500" y="2489200"/>
            <a:ext cx="101600" cy="101600"/>
          </a:xfrm>
          <a:prstGeom prst="ellipse">
            <a:avLst/>
          </a:prstGeom>
          <a:solidFill>
            <a:srgbClr val="3F82D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5FA4A7D-0A8E-41F9-9FC8-7FE9F7EAFA02}"/>
              </a:ext>
            </a:extLst>
          </p:cNvPr>
          <p:cNvSpPr txBox="1"/>
          <p:nvPr/>
        </p:nvSpPr>
        <p:spPr>
          <a:xfrm>
            <a:off x="889000" y="2755900"/>
            <a:ext cx="11049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 sz="1400">
                <a:solidFill>
                  <a:srgbClr val="C8D2E1"/>
                </a:solidFill>
              </a:rPr>
              <a:t>• Смена темы: светлая / тёмная</a:t>
            </a:r>
          </a:p>
        </p:txBody>
      </p:sp>
      <p:sp>
        <p:nvSpPr>
          <p:cNvPr id="16" name="Овал 15">
            <a:extLst>
              <a:ext uri="{FF2B5EF4-FFF2-40B4-BE49-F238E27FC236}">
                <a16:creationId xmlns:a16="http://schemas.microsoft.com/office/drawing/2014/main" id="{71C670C4-B7ED-4DBC-B990-085E5E832B88}"/>
              </a:ext>
            </a:extLst>
          </p:cNvPr>
          <p:cNvSpPr/>
          <p:nvPr/>
        </p:nvSpPr>
        <p:spPr>
          <a:xfrm>
            <a:off x="698500" y="2844800"/>
            <a:ext cx="101600" cy="101600"/>
          </a:xfrm>
          <a:prstGeom prst="ellipse">
            <a:avLst/>
          </a:prstGeom>
          <a:solidFill>
            <a:srgbClr val="3F82D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62357E9-D55F-4BE5-82D7-D38A7942A5EA}"/>
              </a:ext>
            </a:extLst>
          </p:cNvPr>
          <p:cNvSpPr txBox="1"/>
          <p:nvPr/>
        </p:nvSpPr>
        <p:spPr>
          <a:xfrm>
            <a:off x="889000" y="3111500"/>
            <a:ext cx="11049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 sz="1400">
                <a:solidFill>
                  <a:srgbClr val="C8D2E1"/>
                </a:solidFill>
              </a:rPr>
              <a:t>• Язык интерфейса: русский / английский</a:t>
            </a:r>
          </a:p>
        </p:txBody>
      </p:sp>
      <p:sp>
        <p:nvSpPr>
          <p:cNvPr id="18" name="Овал 17">
            <a:extLst>
              <a:ext uri="{FF2B5EF4-FFF2-40B4-BE49-F238E27FC236}">
                <a16:creationId xmlns:a16="http://schemas.microsoft.com/office/drawing/2014/main" id="{F32CEDEB-2147-42BF-A069-3C7CFFAB1506}"/>
              </a:ext>
            </a:extLst>
          </p:cNvPr>
          <p:cNvSpPr/>
          <p:nvPr/>
        </p:nvSpPr>
        <p:spPr>
          <a:xfrm>
            <a:off x="698500" y="3200400"/>
            <a:ext cx="101600" cy="101600"/>
          </a:xfrm>
          <a:prstGeom prst="ellipse">
            <a:avLst/>
          </a:prstGeom>
          <a:solidFill>
            <a:srgbClr val="3F82D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Овал 18">
            <a:extLst>
              <a:ext uri="{FF2B5EF4-FFF2-40B4-BE49-F238E27FC236}">
                <a16:creationId xmlns:a16="http://schemas.microsoft.com/office/drawing/2014/main" id="{9E573DD7-B91B-4703-956B-7D7A2B4A9F76}"/>
              </a:ext>
            </a:extLst>
          </p:cNvPr>
          <p:cNvSpPr/>
          <p:nvPr/>
        </p:nvSpPr>
        <p:spPr>
          <a:xfrm>
            <a:off x="11049000" y="6032500"/>
            <a:ext cx="508000" cy="508000"/>
          </a:xfrm>
          <a:prstGeom prst="ellipse">
            <a:avLst/>
          </a:prstGeom>
          <a:solidFill>
            <a:srgbClr val="3F82D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b="1">
                <a:solidFill>
                  <a:srgbClr val="FFFFFF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4179941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E8C514-54FB-494A-A38D-CEDD1B825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CF06AB3-2D3A-457E-BAF5-C3A93AC565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3CADDEC-3C24-475F-948F-5914F452209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9233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26B9B3-139F-4068-9D44-AD5AF74EB121}"/>
              </a:ext>
            </a:extLst>
          </p:cNvPr>
          <p:cNvSpPr txBox="1"/>
          <p:nvPr/>
        </p:nvSpPr>
        <p:spPr>
          <a:xfrm>
            <a:off x="508000" y="317500"/>
            <a:ext cx="11176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 sz="2800" b="1">
                <a:solidFill>
                  <a:srgbClr val="FFFFFF"/>
                </a:solidFill>
              </a:rPr>
              <a:t>Заключение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CCFB4FB8-20C5-4628-B91C-0C08C0DFCA01}"/>
              </a:ext>
            </a:extLst>
          </p:cNvPr>
          <p:cNvSpPr/>
          <p:nvPr/>
        </p:nvSpPr>
        <p:spPr>
          <a:xfrm>
            <a:off x="508000" y="1016000"/>
            <a:ext cx="11176000" cy="50800"/>
          </a:xfrm>
          <a:prstGeom prst="rect">
            <a:avLst/>
          </a:prstGeom>
          <a:solidFill>
            <a:srgbClr val="3F82D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761AEE-6305-4AC8-B33E-610F22A209CB}"/>
              </a:ext>
            </a:extLst>
          </p:cNvPr>
          <p:cNvSpPr txBox="1"/>
          <p:nvPr/>
        </p:nvSpPr>
        <p:spPr>
          <a:xfrm>
            <a:off x="635000" y="1270000"/>
            <a:ext cx="10922000" cy="3539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 sz="1700">
                <a:solidFill>
                  <a:srgbClr val="C8D2E1"/>
                </a:solidFill>
              </a:rPr>
              <a:t>Разработано полнофункциональное мобильное приложение для учёта товаров на складе: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115B363-F1E2-4AFB-8A57-52911CDCFA85}"/>
              </a:ext>
            </a:extLst>
          </p:cNvPr>
          <p:cNvSpPr txBox="1"/>
          <p:nvPr/>
        </p:nvSpPr>
        <p:spPr>
          <a:xfrm>
            <a:off x="952500" y="1905000"/>
            <a:ext cx="107950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 sz="1500">
                <a:solidFill>
                  <a:srgbClr val="C8D2E1"/>
                </a:solidFill>
              </a:rPr>
              <a:t>Платформа: Flutter (язык Dart) — кроссплатформенная разработка</a:t>
            </a:r>
          </a:p>
        </p:txBody>
      </p:sp>
      <p:sp>
        <p:nvSpPr>
          <p:cNvPr id="9" name="Овал 8">
            <a:extLst>
              <a:ext uri="{FF2B5EF4-FFF2-40B4-BE49-F238E27FC236}">
                <a16:creationId xmlns:a16="http://schemas.microsoft.com/office/drawing/2014/main" id="{FFC3557F-FA9D-48DA-B68F-0899FF74EAE8}"/>
              </a:ext>
            </a:extLst>
          </p:cNvPr>
          <p:cNvSpPr/>
          <p:nvPr/>
        </p:nvSpPr>
        <p:spPr>
          <a:xfrm>
            <a:off x="762000" y="1993900"/>
            <a:ext cx="101600" cy="101600"/>
          </a:xfrm>
          <a:prstGeom prst="ellipse">
            <a:avLst/>
          </a:prstGeom>
          <a:solidFill>
            <a:srgbClr val="3F82D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A720281-4AEA-4A69-99F0-2C58047AE5F4}"/>
              </a:ext>
            </a:extLst>
          </p:cNvPr>
          <p:cNvSpPr txBox="1"/>
          <p:nvPr/>
        </p:nvSpPr>
        <p:spPr>
          <a:xfrm>
            <a:off x="952500" y="2324100"/>
            <a:ext cx="107950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 sz="1500">
                <a:solidFill>
                  <a:srgbClr val="C8D2E1"/>
                </a:solidFill>
              </a:rPr>
              <a:t>База данных: SQLite — локальное хранение без доступа в интернет</a:t>
            </a:r>
          </a:p>
        </p:txBody>
      </p:sp>
      <p:sp>
        <p:nvSpPr>
          <p:cNvPr id="11" name="Овал 10">
            <a:extLst>
              <a:ext uri="{FF2B5EF4-FFF2-40B4-BE49-F238E27FC236}">
                <a16:creationId xmlns:a16="http://schemas.microsoft.com/office/drawing/2014/main" id="{6B057F94-E68B-4760-B13C-BEF4E2E5CCE8}"/>
              </a:ext>
            </a:extLst>
          </p:cNvPr>
          <p:cNvSpPr/>
          <p:nvPr/>
        </p:nvSpPr>
        <p:spPr>
          <a:xfrm>
            <a:off x="762000" y="2413000"/>
            <a:ext cx="101600" cy="101600"/>
          </a:xfrm>
          <a:prstGeom prst="ellipse">
            <a:avLst/>
          </a:prstGeom>
          <a:solidFill>
            <a:srgbClr val="3F82D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5311820-209C-4DED-B083-757F42BCA306}"/>
              </a:ext>
            </a:extLst>
          </p:cNvPr>
          <p:cNvSpPr txBox="1"/>
          <p:nvPr/>
        </p:nvSpPr>
        <p:spPr>
          <a:xfrm>
            <a:off x="952500" y="2743200"/>
            <a:ext cx="107950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 sz="1500">
                <a:solidFill>
                  <a:srgbClr val="C8D2E1"/>
                </a:solidFill>
              </a:rPr>
              <a:t>Функции: каталог, закупка, продажа, контрагенты, аналитика</a:t>
            </a:r>
          </a:p>
        </p:txBody>
      </p:sp>
      <p:sp>
        <p:nvSpPr>
          <p:cNvPr id="13" name="Овал 12">
            <a:extLst>
              <a:ext uri="{FF2B5EF4-FFF2-40B4-BE49-F238E27FC236}">
                <a16:creationId xmlns:a16="http://schemas.microsoft.com/office/drawing/2014/main" id="{306E7A78-0A55-41D9-A970-5374F289F2C4}"/>
              </a:ext>
            </a:extLst>
          </p:cNvPr>
          <p:cNvSpPr/>
          <p:nvPr/>
        </p:nvSpPr>
        <p:spPr>
          <a:xfrm>
            <a:off x="762000" y="2832100"/>
            <a:ext cx="101600" cy="101600"/>
          </a:xfrm>
          <a:prstGeom prst="ellipse">
            <a:avLst/>
          </a:prstGeom>
          <a:solidFill>
            <a:srgbClr val="3F82D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AAEAB07-4FEE-4637-975D-221A5FBD309E}"/>
              </a:ext>
            </a:extLst>
          </p:cNvPr>
          <p:cNvSpPr txBox="1"/>
          <p:nvPr/>
        </p:nvSpPr>
        <p:spPr>
          <a:xfrm>
            <a:off x="952500" y="3162300"/>
            <a:ext cx="107950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 sz="1500">
                <a:solidFill>
                  <a:srgbClr val="C8D2E1"/>
                </a:solidFill>
              </a:rPr>
              <a:t>Интерфейс: Material Design 3, светлая/тёмная тема, русский язык</a:t>
            </a:r>
          </a:p>
        </p:txBody>
      </p:sp>
      <p:sp>
        <p:nvSpPr>
          <p:cNvPr id="15" name="Овал 14">
            <a:extLst>
              <a:ext uri="{FF2B5EF4-FFF2-40B4-BE49-F238E27FC236}">
                <a16:creationId xmlns:a16="http://schemas.microsoft.com/office/drawing/2014/main" id="{BEEE340E-8C4A-4BF9-82BD-BDD313478E6E}"/>
              </a:ext>
            </a:extLst>
          </p:cNvPr>
          <p:cNvSpPr/>
          <p:nvPr/>
        </p:nvSpPr>
        <p:spPr>
          <a:xfrm>
            <a:off x="762000" y="3251200"/>
            <a:ext cx="101600" cy="101600"/>
          </a:xfrm>
          <a:prstGeom prst="ellipse">
            <a:avLst/>
          </a:prstGeom>
          <a:solidFill>
            <a:srgbClr val="3F82D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5EE0A8F-3021-42E6-9DBD-81166E9DB650}"/>
              </a:ext>
            </a:extLst>
          </p:cNvPr>
          <p:cNvSpPr txBox="1"/>
          <p:nvPr/>
        </p:nvSpPr>
        <p:spPr>
          <a:xfrm>
            <a:off x="952500" y="3581400"/>
            <a:ext cx="107950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 sz="1500">
                <a:solidFill>
                  <a:srgbClr val="C8D2E1"/>
                </a:solidFill>
              </a:rPr>
              <a:t>Размер APK: 47 МБ, поддержка Android 5.0 и выше</a:t>
            </a:r>
          </a:p>
        </p:txBody>
      </p:sp>
      <p:sp>
        <p:nvSpPr>
          <p:cNvPr id="17" name="Овал 16">
            <a:extLst>
              <a:ext uri="{FF2B5EF4-FFF2-40B4-BE49-F238E27FC236}">
                <a16:creationId xmlns:a16="http://schemas.microsoft.com/office/drawing/2014/main" id="{076000ED-0FEC-44D4-8037-5FE4312EB69D}"/>
              </a:ext>
            </a:extLst>
          </p:cNvPr>
          <p:cNvSpPr/>
          <p:nvPr/>
        </p:nvSpPr>
        <p:spPr>
          <a:xfrm>
            <a:off x="762000" y="3670300"/>
            <a:ext cx="101600" cy="101600"/>
          </a:xfrm>
          <a:prstGeom prst="ellipse">
            <a:avLst/>
          </a:prstGeom>
          <a:solidFill>
            <a:srgbClr val="3F82D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2572C283-A40F-41B5-86F3-1B4A7A6390C3}"/>
              </a:ext>
            </a:extLst>
          </p:cNvPr>
          <p:cNvSpPr/>
          <p:nvPr/>
        </p:nvSpPr>
        <p:spPr>
          <a:xfrm>
            <a:off x="635000" y="4445000"/>
            <a:ext cx="10922000" cy="698500"/>
          </a:xfrm>
          <a:prstGeom prst="rect">
            <a:avLst/>
          </a:prstGeom>
          <a:solidFill>
            <a:srgbClr val="3F82D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b="1">
                <a:solidFill>
                  <a:srgbClr val="FFFFFF"/>
                </a:solidFill>
              </a:rPr>
              <a:t>Приложение готово к использованию и может быть доработано под конкретные задачи бизнеса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47F2C4F-3355-49B7-A541-077F9744B0ED}"/>
              </a:ext>
            </a:extLst>
          </p:cNvPr>
          <p:cNvSpPr txBox="1"/>
          <p:nvPr/>
        </p:nvSpPr>
        <p:spPr>
          <a:xfrm>
            <a:off x="635000" y="5461000"/>
            <a:ext cx="10922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 sz="2200" b="1">
                <a:solidFill>
                  <a:srgbClr val="FFFFFF"/>
                </a:solidFill>
              </a:rPr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61107036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518</Words>
  <Application>Microsoft Office PowerPoint</Application>
  <PresentationFormat>Широкоэкранный</PresentationFormat>
  <Paragraphs>71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Андрей Веселов</dc:creator>
  <cp:lastModifiedBy>Андрей Веселов</cp:lastModifiedBy>
  <cp:revision>1</cp:revision>
  <dcterms:created xsi:type="dcterms:W3CDTF">2026-05-15T10:45:17Z</dcterms:created>
  <dcterms:modified xsi:type="dcterms:W3CDTF">2026-05-15T10:45:17Z</dcterms:modified>
</cp:coreProperties>
</file>